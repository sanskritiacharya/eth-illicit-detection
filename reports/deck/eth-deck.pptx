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180">
                <a:solidFill>
                  <a:srgbClr val="B3382C"/>
                </a:solidFill>
                <a:latin typeface="IBM Plex Mono"/>
              </a:rPr>
              <a:t>DCS 404 ·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6572250" cy="285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B1B18"/>
                </a:solidFill>
                <a:latin typeface="Noto Serif"/>
              </a:rPr>
              <a:t>Detecting Illicit Ethereum Transactions with Graph‑Derived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8100"/>
            <a:ext cx="19050" cy="800100"/>
          </a:xfrm>
          <a:prstGeom prst="rect">
            <a:avLst/>
          </a:prstGeom>
          <a:solidFill>
            <a:srgbClr val="2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62050" y="3867150"/>
            <a:ext cx="44767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650" b="0" i="1">
                <a:solidFill>
                  <a:srgbClr val="2E4FA8"/>
                </a:solidFill>
                <a:latin typeface="Noto Serif"/>
              </a:rPr>
              <a:t>Can an address’s network of connections reveal fraud that its own features cannot?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39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B1B18"/>
                </a:solidFill>
                <a:latin typeface="Noto Serif"/>
              </a:rPr>
              <a:t>Sanskriti Acharya</a:t>
            </a:r>
            <a:r>
              <a:rPr sz="1500" b="0" i="1">
                <a:solidFill>
                  <a:srgbClr val="6B6A62"/>
                </a:solidFill>
                <a:latin typeface="Noto Serif"/>
              </a:rPr>
              <a:t> &amp; </a:t>
            </a:r>
            <a:r>
              <a:rPr sz="1500" b="0" i="0">
                <a:solidFill>
                  <a:srgbClr val="1B1B18"/>
                </a:solidFill>
                <a:latin typeface="Noto Serif"/>
              </a:rPr>
              <a:t>Sweta Sharma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60">
                <a:solidFill>
                  <a:srgbClr val="6B6A62"/>
                </a:solidFill>
                <a:latin typeface="IBM Plex Mono"/>
              </a:rPr>
              <a:t>eth-illicit-detection.streamlit.app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8054721" y="2416302"/>
            <a:ext cx="952119" cy="738378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006840" y="2280285"/>
            <a:ext cx="796671" cy="874395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06840" y="3154680"/>
            <a:ext cx="1165860" cy="155448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06840" y="3154680"/>
            <a:ext cx="544068" cy="1049274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90738" y="3154680"/>
            <a:ext cx="816102" cy="757809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549515" y="2416302"/>
            <a:ext cx="505206" cy="544068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054721" y="1891665"/>
            <a:ext cx="563499" cy="524637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259443" y="1833372"/>
            <a:ext cx="544068" cy="446913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03511" y="2280285"/>
            <a:ext cx="660653" cy="310896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72700" y="2591181"/>
            <a:ext cx="291464" cy="718947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666101" y="3912489"/>
            <a:ext cx="524637" cy="485775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7549515" y="2960370"/>
            <a:ext cx="641223" cy="952119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50908" y="4203954"/>
            <a:ext cx="621792" cy="310896"/>
          </a:xfrm>
          <a:prstGeom prst="line">
            <a:avLst/>
          </a:prstGeom>
          <a:ln w="1524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967281" y="2328862"/>
            <a:ext cx="174879" cy="174879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16071" y="2192845"/>
            <a:ext cx="174879" cy="174879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85260" y="3222688"/>
            <a:ext cx="174879" cy="174879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3468" y="4116514"/>
            <a:ext cx="174879" cy="174879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03298" y="3825049"/>
            <a:ext cx="174879" cy="174879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1222" y="2902077"/>
            <a:ext cx="116586" cy="116586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59927" y="1833372"/>
            <a:ext cx="116586" cy="116586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01150" y="1775079"/>
            <a:ext cx="116586" cy="116586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05872" y="2532888"/>
            <a:ext cx="116586" cy="116586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07808" y="4339971"/>
            <a:ext cx="116586" cy="116586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14407" y="4456557"/>
            <a:ext cx="116586" cy="116586"/>
          </a:xfrm>
          <a:prstGeom prst="ellipse">
            <a:avLst/>
          </a:prstGeom>
          <a:solidFill>
            <a:srgbClr val="FAFAF7"/>
          </a:solidFill>
          <a:ln w="1778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12530" y="2960370"/>
            <a:ext cx="388620" cy="388620"/>
          </a:xfrm>
          <a:prstGeom prst="ellipse">
            <a:avLst/>
          </a:prstGeom>
          <a:noFill/>
          <a:ln w="12700">
            <a:solidFill>
              <a:srgbClr val="B338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80538" y="3028378"/>
            <a:ext cx="252603" cy="252603"/>
          </a:xfrm>
          <a:prstGeom prst="ellipse">
            <a:avLst/>
          </a:prstGeom>
          <a:solidFill>
            <a:srgbClr val="B3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9590" y="3611308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 spc="100">
                <a:solidFill>
                  <a:srgbClr val="B3382C"/>
                </a:solidFill>
                <a:latin typeface="IBM Plex Mono"/>
              </a:rPr>
              <a:t>0x3f4e…a71c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§1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Is this address a scam?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19250"/>
            <a:ext cx="666750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Every Ethereum transfer is public and permanent — and there are over a million a day. No investigator can read them all.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514600"/>
            <a:ext cx="103632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686050"/>
            <a:ext cx="31686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1B1B18"/>
                </a:solidFill>
                <a:latin typeface="Noto Serif"/>
              </a:rPr>
              <a:t>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7550"/>
            <a:ext cx="31686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SUPERVISED · BINARY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68800" y="2590800"/>
            <a:ext cx="0" cy="9715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97400" y="2686050"/>
            <a:ext cx="31686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1B1B18"/>
                </a:solidFill>
                <a:latin typeface="Noto Serif"/>
              </a:rPr>
              <a:t>1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3257550"/>
            <a:ext cx="31686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IN · PHISHING OR SCAM?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23200" y="2590800"/>
            <a:ext cx="0" cy="9715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51800" y="2686050"/>
            <a:ext cx="31686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2E4FA8"/>
                </a:solidFill>
                <a:latin typeface="Noto Serif"/>
              </a:rPr>
              <a:t>a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1800" y="3257550"/>
            <a:ext cx="31686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OUT · NEVER A VERDICT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638550"/>
            <a:ext cx="103632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076700"/>
            <a:ext cx="7429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Built for an analyst triaging addresses, so the output is a review priority. The deliverable is a short, ranked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§1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Accuracy is unusable here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809750"/>
            <a:ext cx="103632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2019300"/>
            <a:ext cx="48006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4200" b="1" i="0">
                <a:solidFill>
                  <a:srgbClr val="B3382C"/>
                </a:solidFill>
                <a:latin typeface="Noto Serif"/>
              </a:rPr>
              <a:t>0.845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9400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825" b="0" i="0" spc="110">
                <a:solidFill>
                  <a:srgbClr val="6B6A62"/>
                </a:solidFill>
                <a:latin typeface="IBM Plex Mono"/>
              </a:rPr>
              <a:t>ACCURACY OF A MODEL THAT ALWAYS ANSWERS “LICIT”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0" y="1885950"/>
            <a:ext cx="0" cy="118110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81750" y="2019300"/>
            <a:ext cx="48006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4200" b="1" i="0">
                <a:solidFill>
                  <a:srgbClr val="B3382C"/>
                </a:solidFill>
                <a:latin typeface="Noto Serif"/>
              </a:rPr>
              <a:t>F₁ = 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819400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825" b="0" i="0" spc="110">
                <a:solidFill>
                  <a:srgbClr val="6B6A62"/>
                </a:solidFill>
                <a:latin typeface="IBM Plex Mono"/>
              </a:rPr>
              <a:t>THE SAME MODEL, ON THE METRIC THAT MATTERS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162300"/>
            <a:ext cx="103632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524250"/>
            <a:ext cx="74295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6B6A62"/>
                </a:solidFill>
                <a:latin typeface="Noto Serif"/>
              </a:rPr>
              <a:t>F₁ = 2PR / (P + R)  ·  on the illicit class, reported with PR‑AUC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19550"/>
            <a:ext cx="7620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A missed scam lets fraud continue; a false alarm costs an analyst minutes. Recall matters more — but F₁ only rises when both are respectable.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§2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Only the labels are borrowed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809750"/>
            <a:ext cx="103632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981200"/>
            <a:ext cx="23050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1B1B18"/>
                </a:solidFill>
                <a:latin typeface="Noto Serif"/>
              </a:rPr>
              <a:t>2,852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2700"/>
            <a:ext cx="23050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LABELLED ADDRESSES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05200" y="1885950"/>
            <a:ext cx="0" cy="9715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33800" y="1981200"/>
            <a:ext cx="23050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B3382C"/>
                </a:solidFill>
                <a:latin typeface="Noto Serif"/>
              </a:rPr>
              <a:t>652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2552700"/>
            <a:ext cx="23050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ILLICIT · 22.9%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885950"/>
            <a:ext cx="0" cy="9715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24600" y="1981200"/>
            <a:ext cx="23050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1B1B18"/>
                </a:solidFill>
                <a:latin typeface="Noto Serif"/>
              </a:rPr>
              <a:t>2017–18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552700"/>
            <a:ext cx="23050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BOTH CLASSES, SAME ERA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1885950"/>
            <a:ext cx="0" cy="9715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15400" y="1981200"/>
            <a:ext cx="230505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850" b="1" i="0">
                <a:solidFill>
                  <a:srgbClr val="2E4FA8"/>
                </a:solidFill>
                <a:latin typeface="Noto Serif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552700"/>
            <a:ext cx="230505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30">
                <a:solidFill>
                  <a:srgbClr val="6B6A62"/>
                </a:solidFill>
                <a:latin typeface="IBM Plex Mono"/>
              </a:rPr>
              <a:t>FEATURES COMPUTED BY 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933700"/>
            <a:ext cx="103632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371850"/>
            <a:ext cx="48387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1B1B18"/>
                </a:solidFill>
                <a:latin typeface="Noto Serif"/>
              </a:rPr>
              <a:t>Labels</a:t>
            </a:r>
            <a:r>
              <a:rPr sz="1500" b="0" i="1">
                <a:solidFill>
                  <a:srgbClr val="6B6A62"/>
                </a:solidFill>
                <a:latin typeface="Noto Serif"/>
              </a:rPr>
              <a:t> — the MyEtherWallet darklist of reported scam addresses, deduplicated 715 → 652 wallets.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3371850"/>
            <a:ext cx="48387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1B1B18"/>
                </a:solidFill>
                <a:latin typeface="Noto Serif"/>
              </a:rPr>
              <a:t>Everything else</a:t>
            </a:r>
            <a:r>
              <a:rPr sz="1500" b="0" i="1">
                <a:solidFill>
                  <a:srgbClr val="6B6A62"/>
                </a:solidFill>
                <a:latin typeface="Noto Serif"/>
              </a:rPr>
              <a:t> — raw transactions fetched address-by-address from Blockscout. No pre-cleaned download exists.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§2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The shortcut we had to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19250"/>
            <a:ext cx="781050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97% of the darklist dates to 2017–18. Sample licit addresses from recent blocks and block_number alone separates the classes perfectly.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7" b="0" i="0" spc="150">
                <a:solidFill>
                  <a:srgbClr val="6B6A62"/>
                </a:solidFill>
                <a:latin typeface="IBM Plex Mono"/>
              </a:rPr>
              <a:t>NAIVE: LICIT FROM RECENT BLOCKS</a:t>
            </a:r>
          </a:p>
        </p:txBody>
      </p:sp>
      <p:sp>
        <p:nvSpPr>
          <p:cNvPr id="6" name="Freeform 5"/>
          <p:cNvSpPr/>
          <p:nvPr/>
        </p:nvSpPr>
        <p:spPr>
          <a:xfrm>
            <a:off x="866775" y="2895600"/>
            <a:ext cx="2381250" cy="876300"/>
          </a:xfrm>
          <a:custGeom>
            <a:avLst/>
            <a:gdLst/>
            <a:ahLst/>
            <a:cxnLst/>
            <a:rect l="l" t="t" r="r" b="b"/>
            <a:pathLst>
              <a:path w="2381250" h="876300">
                <a:moveTo>
                  <a:pt x="0" y="876300"/>
                </a:moveTo>
                <a:lnTo>
                  <a:pt x="0" y="860250"/>
                </a:lnTo>
                <a:lnTo>
                  <a:pt x="91586" y="847296"/>
                </a:lnTo>
                <a:lnTo>
                  <a:pt x="183173" y="826310"/>
                </a:lnTo>
                <a:lnTo>
                  <a:pt x="274759" y="794125"/>
                </a:lnTo>
                <a:lnTo>
                  <a:pt x="366346" y="747462"/>
                </a:lnTo>
                <a:lnTo>
                  <a:pt x="457932" y="683642"/>
                </a:lnTo>
                <a:lnTo>
                  <a:pt x="549519" y="601527"/>
                </a:lnTo>
                <a:lnTo>
                  <a:pt x="641105" y="502531"/>
                </a:lnTo>
                <a:lnTo>
                  <a:pt x="732692" y="391375"/>
                </a:lnTo>
                <a:lnTo>
                  <a:pt x="824278" y="276251"/>
                </a:lnTo>
                <a:lnTo>
                  <a:pt x="915865" y="168125"/>
                </a:lnTo>
                <a:lnTo>
                  <a:pt x="1007451" y="79157"/>
                </a:lnTo>
                <a:lnTo>
                  <a:pt x="1099038" y="20497"/>
                </a:lnTo>
                <a:lnTo>
                  <a:pt x="1190625" y="0"/>
                </a:lnTo>
                <a:lnTo>
                  <a:pt x="1282211" y="20497"/>
                </a:lnTo>
                <a:lnTo>
                  <a:pt x="1373798" y="79157"/>
                </a:lnTo>
                <a:lnTo>
                  <a:pt x="1465384" y="168125"/>
                </a:lnTo>
                <a:lnTo>
                  <a:pt x="1556971" y="276251"/>
                </a:lnTo>
                <a:lnTo>
                  <a:pt x="1648557" y="391375"/>
                </a:lnTo>
                <a:lnTo>
                  <a:pt x="1740144" y="502531"/>
                </a:lnTo>
                <a:lnTo>
                  <a:pt x="1831730" y="601527"/>
                </a:lnTo>
                <a:lnTo>
                  <a:pt x="1923317" y="683642"/>
                </a:lnTo>
                <a:lnTo>
                  <a:pt x="2014903" y="747462"/>
                </a:lnTo>
                <a:lnTo>
                  <a:pt x="2106490" y="794125"/>
                </a:lnTo>
                <a:lnTo>
                  <a:pt x="2198076" y="826310"/>
                </a:lnTo>
                <a:lnTo>
                  <a:pt x="2289663" y="847296"/>
                </a:lnTo>
                <a:lnTo>
                  <a:pt x="2381250" y="860250"/>
                </a:lnTo>
                <a:lnTo>
                  <a:pt x="2381250" y="876300"/>
                </a:lnTo>
                <a:close/>
              </a:path>
            </a:pathLst>
          </a:custGeom>
          <a:solidFill>
            <a:srgbClr val="EEDBD6"/>
          </a:solidFill>
          <a:ln w="17780">
            <a:solidFill>
              <a:srgbClr val="B3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81400" y="2971800"/>
            <a:ext cx="1905000" cy="800100"/>
          </a:xfrm>
          <a:custGeom>
            <a:avLst/>
            <a:gdLst/>
            <a:ahLst/>
            <a:cxnLst/>
            <a:rect l="l" t="t" r="r" b="b"/>
            <a:pathLst>
              <a:path w="1905000" h="800100">
                <a:moveTo>
                  <a:pt x="0" y="800100"/>
                </a:moveTo>
                <a:lnTo>
                  <a:pt x="0" y="785445"/>
                </a:lnTo>
                <a:lnTo>
                  <a:pt x="73269" y="773618"/>
                </a:lnTo>
                <a:lnTo>
                  <a:pt x="146538" y="754457"/>
                </a:lnTo>
                <a:lnTo>
                  <a:pt x="219807" y="725071"/>
                </a:lnTo>
                <a:lnTo>
                  <a:pt x="293076" y="682466"/>
                </a:lnTo>
                <a:lnTo>
                  <a:pt x="366346" y="624195"/>
                </a:lnTo>
                <a:lnTo>
                  <a:pt x="439615" y="549220"/>
                </a:lnTo>
                <a:lnTo>
                  <a:pt x="512884" y="458832"/>
                </a:lnTo>
                <a:lnTo>
                  <a:pt x="586153" y="357343"/>
                </a:lnTo>
                <a:lnTo>
                  <a:pt x="659423" y="252229"/>
                </a:lnTo>
                <a:lnTo>
                  <a:pt x="732692" y="153505"/>
                </a:lnTo>
                <a:lnTo>
                  <a:pt x="805961" y="72273"/>
                </a:lnTo>
                <a:lnTo>
                  <a:pt x="879230" y="18714"/>
                </a:lnTo>
                <a:lnTo>
                  <a:pt x="952500" y="0"/>
                </a:lnTo>
                <a:lnTo>
                  <a:pt x="1025769" y="18714"/>
                </a:lnTo>
                <a:lnTo>
                  <a:pt x="1099038" y="72273"/>
                </a:lnTo>
                <a:lnTo>
                  <a:pt x="1172307" y="153505"/>
                </a:lnTo>
                <a:lnTo>
                  <a:pt x="1245576" y="252229"/>
                </a:lnTo>
                <a:lnTo>
                  <a:pt x="1318846" y="357343"/>
                </a:lnTo>
                <a:lnTo>
                  <a:pt x="1392115" y="458832"/>
                </a:lnTo>
                <a:lnTo>
                  <a:pt x="1465384" y="549220"/>
                </a:lnTo>
                <a:lnTo>
                  <a:pt x="1538653" y="624195"/>
                </a:lnTo>
                <a:lnTo>
                  <a:pt x="1611923" y="682466"/>
                </a:lnTo>
                <a:lnTo>
                  <a:pt x="1685192" y="725071"/>
                </a:lnTo>
                <a:lnTo>
                  <a:pt x="1758461" y="754457"/>
                </a:lnTo>
                <a:lnTo>
                  <a:pt x="1831730" y="773618"/>
                </a:lnTo>
                <a:lnTo>
                  <a:pt x="1905000" y="785445"/>
                </a:lnTo>
                <a:lnTo>
                  <a:pt x="1905000" y="800100"/>
                </a:lnTo>
                <a:close/>
              </a:path>
            </a:pathLst>
          </a:custGeom>
          <a:solidFill>
            <a:srgbClr val="DDE2EC"/>
          </a:solidFill>
          <a:ln w="17780">
            <a:solidFill>
              <a:srgbClr val="2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6400" y="38481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B3382C"/>
                </a:solidFill>
                <a:latin typeface="IBM Plex Mono"/>
              </a:rPr>
              <a:t>illicit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7650" y="38481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750" b="0" i="0">
                <a:solidFill>
                  <a:srgbClr val="2E4FA8"/>
                </a:solidFill>
                <a:latin typeface="IBM Plex Mono"/>
              </a:rPr>
              <a:t>licit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771900"/>
            <a:ext cx="4762500" cy="0"/>
          </a:xfrm>
          <a:prstGeom prst="line">
            <a:avLst/>
          </a:prstGeom>
          <a:ln w="1270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0957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1">
                <a:solidFill>
                  <a:srgbClr val="B3382C"/>
                </a:solidFill>
                <a:latin typeface="Noto Serif"/>
              </a:rPr>
              <a:t>separable by block number alone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514600"/>
            <a:ext cx="4953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7" b="0" i="0" spc="150">
                <a:solidFill>
                  <a:srgbClr val="6B6A62"/>
                </a:solidFill>
                <a:latin typeface="IBM Plex Mono"/>
              </a:rPr>
              <a:t>ERA-MATCHED (OURS)</a:t>
            </a:r>
          </a:p>
        </p:txBody>
      </p:sp>
      <p:sp>
        <p:nvSpPr>
          <p:cNvPr id="13" name="Freeform 12"/>
          <p:cNvSpPr/>
          <p:nvPr/>
        </p:nvSpPr>
        <p:spPr>
          <a:xfrm>
            <a:off x="6486525" y="2895600"/>
            <a:ext cx="2381250" cy="876300"/>
          </a:xfrm>
          <a:custGeom>
            <a:avLst/>
            <a:gdLst/>
            <a:ahLst/>
            <a:cxnLst/>
            <a:rect l="l" t="t" r="r" b="b"/>
            <a:pathLst>
              <a:path w="2381250" h="876300">
                <a:moveTo>
                  <a:pt x="0" y="876300"/>
                </a:moveTo>
                <a:lnTo>
                  <a:pt x="0" y="860250"/>
                </a:lnTo>
                <a:lnTo>
                  <a:pt x="91586" y="847296"/>
                </a:lnTo>
                <a:lnTo>
                  <a:pt x="183173" y="826310"/>
                </a:lnTo>
                <a:lnTo>
                  <a:pt x="274759" y="794125"/>
                </a:lnTo>
                <a:lnTo>
                  <a:pt x="366346" y="747462"/>
                </a:lnTo>
                <a:lnTo>
                  <a:pt x="457932" y="683642"/>
                </a:lnTo>
                <a:lnTo>
                  <a:pt x="549519" y="601527"/>
                </a:lnTo>
                <a:lnTo>
                  <a:pt x="641105" y="502531"/>
                </a:lnTo>
                <a:lnTo>
                  <a:pt x="732692" y="391375"/>
                </a:lnTo>
                <a:lnTo>
                  <a:pt x="824278" y="276251"/>
                </a:lnTo>
                <a:lnTo>
                  <a:pt x="915865" y="168125"/>
                </a:lnTo>
                <a:lnTo>
                  <a:pt x="1007451" y="79157"/>
                </a:lnTo>
                <a:lnTo>
                  <a:pt x="1099038" y="20497"/>
                </a:lnTo>
                <a:lnTo>
                  <a:pt x="1190625" y="0"/>
                </a:lnTo>
                <a:lnTo>
                  <a:pt x="1282211" y="20497"/>
                </a:lnTo>
                <a:lnTo>
                  <a:pt x="1373798" y="79157"/>
                </a:lnTo>
                <a:lnTo>
                  <a:pt x="1465384" y="168125"/>
                </a:lnTo>
                <a:lnTo>
                  <a:pt x="1556971" y="276251"/>
                </a:lnTo>
                <a:lnTo>
                  <a:pt x="1648557" y="391375"/>
                </a:lnTo>
                <a:lnTo>
                  <a:pt x="1740144" y="502531"/>
                </a:lnTo>
                <a:lnTo>
                  <a:pt x="1831730" y="601527"/>
                </a:lnTo>
                <a:lnTo>
                  <a:pt x="1923317" y="683642"/>
                </a:lnTo>
                <a:lnTo>
                  <a:pt x="2014903" y="747462"/>
                </a:lnTo>
                <a:lnTo>
                  <a:pt x="2106490" y="794125"/>
                </a:lnTo>
                <a:lnTo>
                  <a:pt x="2198076" y="826310"/>
                </a:lnTo>
                <a:lnTo>
                  <a:pt x="2289663" y="847296"/>
                </a:lnTo>
                <a:lnTo>
                  <a:pt x="2381250" y="860250"/>
                </a:lnTo>
                <a:lnTo>
                  <a:pt x="2381250" y="876300"/>
                </a:lnTo>
                <a:close/>
              </a:path>
            </a:pathLst>
          </a:custGeom>
          <a:solidFill>
            <a:srgbClr val="EEDBD6"/>
          </a:solidFill>
          <a:ln w="17780">
            <a:solidFill>
              <a:srgbClr val="B3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058025" y="2933700"/>
            <a:ext cx="2381250" cy="838200"/>
          </a:xfrm>
          <a:custGeom>
            <a:avLst/>
            <a:gdLst/>
            <a:ahLst/>
            <a:cxnLst/>
            <a:rect l="l" t="t" r="r" b="b"/>
            <a:pathLst>
              <a:path w="2381250" h="838200">
                <a:moveTo>
                  <a:pt x="0" y="838200"/>
                </a:moveTo>
                <a:lnTo>
                  <a:pt x="0" y="822847"/>
                </a:lnTo>
                <a:lnTo>
                  <a:pt x="91586" y="810457"/>
                </a:lnTo>
                <a:lnTo>
                  <a:pt x="183173" y="790384"/>
                </a:lnTo>
                <a:lnTo>
                  <a:pt x="274759" y="759598"/>
                </a:lnTo>
                <a:lnTo>
                  <a:pt x="366346" y="714964"/>
                </a:lnTo>
                <a:lnTo>
                  <a:pt x="457932" y="653918"/>
                </a:lnTo>
                <a:lnTo>
                  <a:pt x="549519" y="575373"/>
                </a:lnTo>
                <a:lnTo>
                  <a:pt x="641105" y="480681"/>
                </a:lnTo>
                <a:lnTo>
                  <a:pt x="732692" y="374359"/>
                </a:lnTo>
                <a:lnTo>
                  <a:pt x="824278" y="264240"/>
                </a:lnTo>
                <a:lnTo>
                  <a:pt x="915865" y="160815"/>
                </a:lnTo>
                <a:lnTo>
                  <a:pt x="1007451" y="75715"/>
                </a:lnTo>
                <a:lnTo>
                  <a:pt x="1099038" y="19606"/>
                </a:lnTo>
                <a:lnTo>
                  <a:pt x="1190625" y="0"/>
                </a:lnTo>
                <a:lnTo>
                  <a:pt x="1282211" y="19606"/>
                </a:lnTo>
                <a:lnTo>
                  <a:pt x="1373798" y="75715"/>
                </a:lnTo>
                <a:lnTo>
                  <a:pt x="1465384" y="160815"/>
                </a:lnTo>
                <a:lnTo>
                  <a:pt x="1556971" y="264240"/>
                </a:lnTo>
                <a:lnTo>
                  <a:pt x="1648557" y="374359"/>
                </a:lnTo>
                <a:lnTo>
                  <a:pt x="1740144" y="480681"/>
                </a:lnTo>
                <a:lnTo>
                  <a:pt x="1831730" y="575373"/>
                </a:lnTo>
                <a:lnTo>
                  <a:pt x="1923317" y="653918"/>
                </a:lnTo>
                <a:lnTo>
                  <a:pt x="2014903" y="714964"/>
                </a:lnTo>
                <a:lnTo>
                  <a:pt x="2106490" y="759598"/>
                </a:lnTo>
                <a:lnTo>
                  <a:pt x="2198076" y="790384"/>
                </a:lnTo>
                <a:lnTo>
                  <a:pt x="2289663" y="810457"/>
                </a:lnTo>
                <a:lnTo>
                  <a:pt x="2381250" y="822847"/>
                </a:lnTo>
                <a:lnTo>
                  <a:pt x="2381250" y="838200"/>
                </a:lnTo>
                <a:close/>
              </a:path>
            </a:pathLst>
          </a:custGeom>
          <a:solidFill>
            <a:srgbClr val="DDE2EC"/>
          </a:solidFill>
          <a:ln w="17780">
            <a:solidFill>
              <a:srgbClr val="2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248400" y="3771900"/>
            <a:ext cx="4762500" cy="0"/>
          </a:xfrm>
          <a:prstGeom prst="line">
            <a:avLst/>
          </a:prstGeom>
          <a:ln w="1270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48400" y="40957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1">
                <a:solidFill>
                  <a:srgbClr val="1B1B18"/>
                </a:solidFill>
                <a:latin typeface="Noto Serif"/>
              </a:rPr>
              <a:t>distributions overlap — shortcut closed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14850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750" b="0" i="0" spc="100">
                <a:solidFill>
                  <a:srgbClr val="6B6A62"/>
                </a:solidFill>
                <a:latin typeface="IBM Plex Mono"/>
              </a:rPr>
              <a:t>block number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3870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75000"/>
              </a:lnSpc>
            </a:pPr>
            <a:r>
              <a:rPr sz="862" b="1" i="0">
                <a:solidFill>
                  <a:srgbClr val="1B1B18"/>
                </a:solidFill>
                <a:latin typeface="IBM Plex Mono"/>
              </a:rPr>
              <a:t>Fig. 1</a:t>
            </a:r>
            <a:r>
              <a:rPr sz="862" b="0" i="0">
                <a:solidFill>
                  <a:srgbClr val="6B6A62"/>
                </a:solidFill>
                <a:latin typeface="IBM Plex Mono"/>
              </a:rPr>
              <a:t> — same logic twice more: contracts excluded from both classes, absolute block numbers excluded from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§3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EDA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6096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29 behavioural features,
plus 7 from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050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7" b="0" i="0" spc="100">
                <a:solidFill>
                  <a:srgbClr val="6B6A62"/>
                </a:solidFill>
                <a:latin typeface="IBM Plex Mono"/>
              </a:rPr>
              <a:t>value_concentration ≈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62050" y="2571750"/>
            <a:ext cx="1085850" cy="381000"/>
          </a:xfrm>
          <a:prstGeom prst="line">
            <a:avLst/>
          </a:prstGeom>
          <a:ln w="13970">
            <a:solidFill>
              <a:srgbClr val="6B6A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2050" y="2838450"/>
            <a:ext cx="1085850" cy="114300"/>
          </a:xfrm>
          <a:prstGeom prst="line">
            <a:avLst/>
          </a:prstGeom>
          <a:ln w="13970">
            <a:solidFill>
              <a:srgbClr val="6B6A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62050" y="2952750"/>
            <a:ext cx="1085850" cy="152400"/>
          </a:xfrm>
          <a:prstGeom prst="line">
            <a:avLst/>
          </a:prstGeom>
          <a:ln w="13970">
            <a:solidFill>
              <a:srgbClr val="6B6A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62050" y="2952750"/>
            <a:ext cx="1085850" cy="400050"/>
          </a:xfrm>
          <a:prstGeom prst="line">
            <a:avLst/>
          </a:prstGeom>
          <a:ln w="13970">
            <a:solidFill>
              <a:srgbClr val="6B6A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66800" y="2495550"/>
            <a:ext cx="114300" cy="114300"/>
          </a:xfrm>
          <a:prstGeom prst="ellipse">
            <a:avLst/>
          </a:prstGeom>
          <a:solidFill>
            <a:srgbClr val="FAFAF7"/>
          </a:solidFill>
          <a:ln w="1651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6800" y="2762250"/>
            <a:ext cx="114300" cy="114300"/>
          </a:xfrm>
          <a:prstGeom prst="ellipse">
            <a:avLst/>
          </a:prstGeom>
          <a:solidFill>
            <a:srgbClr val="FAFAF7"/>
          </a:solidFill>
          <a:ln w="1651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6800" y="3048000"/>
            <a:ext cx="114300" cy="114300"/>
          </a:xfrm>
          <a:prstGeom prst="ellipse">
            <a:avLst/>
          </a:prstGeom>
          <a:solidFill>
            <a:srgbClr val="FAFAF7"/>
          </a:solidFill>
          <a:ln w="1651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6800" y="3314700"/>
            <a:ext cx="114300" cy="114300"/>
          </a:xfrm>
          <a:prstGeom prst="ellipse">
            <a:avLst/>
          </a:prstGeom>
          <a:solidFill>
            <a:srgbClr val="FAFAF7"/>
          </a:solidFill>
          <a:ln w="16510">
            <a:solidFill>
              <a:srgbClr val="6B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7425" y="2847975"/>
            <a:ext cx="209550" cy="209550"/>
          </a:xfrm>
          <a:prstGeom prst="ellipse">
            <a:avLst/>
          </a:prstGeom>
          <a:solidFill>
            <a:srgbClr val="B3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6500" y="2924175"/>
            <a:ext cx="819150" cy="47625"/>
          </a:xfrm>
          <a:prstGeom prst="rect">
            <a:avLst/>
          </a:prstGeom>
          <a:solidFill>
            <a:srgbClr val="B3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390900" y="2876550"/>
            <a:ext cx="152400" cy="152400"/>
          </a:xfrm>
          <a:prstGeom prst="ellipse">
            <a:avLst/>
          </a:prstGeom>
          <a:solidFill>
            <a:srgbClr val="FAFAF7"/>
          </a:solidFill>
          <a:ln w="20320">
            <a:solidFill>
              <a:srgbClr val="B3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8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 i="1">
                <a:solidFill>
                  <a:srgbClr val="1B1B18"/>
                </a:solidFill>
                <a:latin typeface="Noto Serif"/>
              </a:rPr>
              <a:t>many victims in — one sweep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7650" y="23050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7" b="0" i="0" spc="100">
                <a:solidFill>
                  <a:srgbClr val="6B6A62"/>
                </a:solidFill>
                <a:latin typeface="IBM Plex Mono"/>
              </a:rPr>
              <a:t>burstiness ≫ 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57650" y="2743200"/>
            <a:ext cx="215265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719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386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053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720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387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054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721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8850" y="2667000"/>
            <a:ext cx="0" cy="152400"/>
          </a:xfrm>
          <a:prstGeom prst="line">
            <a:avLst/>
          </a:prstGeom>
          <a:ln w="20320">
            <a:solidFill>
              <a:srgbClr val="2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57650" y="2895600"/>
            <a:ext cx="304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1">
                <a:solidFill>
                  <a:srgbClr val="2E4FA8"/>
                </a:solidFill>
                <a:latin typeface="Noto Serif"/>
              </a:rPr>
              <a:t>ordinary wallet — steady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57650" y="3333750"/>
            <a:ext cx="215265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3850" y="3257550"/>
            <a:ext cx="0" cy="152400"/>
          </a:xfrm>
          <a:prstGeom prst="line">
            <a:avLst/>
          </a:prstGeom>
          <a:ln w="20320">
            <a:solidFill>
              <a:srgbClr val="B338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91000" y="3257550"/>
            <a:ext cx="0" cy="152400"/>
          </a:xfrm>
          <a:prstGeom prst="line">
            <a:avLst/>
          </a:prstGeom>
          <a:ln w="20320">
            <a:solidFill>
              <a:srgbClr val="B338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48150" y="3257550"/>
            <a:ext cx="0" cy="152400"/>
          </a:xfrm>
          <a:prstGeom prst="line">
            <a:avLst/>
          </a:prstGeom>
          <a:ln w="20320">
            <a:solidFill>
              <a:srgbClr val="B338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14825" y="3257550"/>
            <a:ext cx="0" cy="152400"/>
          </a:xfrm>
          <a:prstGeom prst="line">
            <a:avLst/>
          </a:prstGeom>
          <a:ln w="20320">
            <a:solidFill>
              <a:srgbClr val="B338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71975" y="3257550"/>
            <a:ext cx="0" cy="152400"/>
          </a:xfrm>
          <a:prstGeom prst="line">
            <a:avLst/>
          </a:prstGeom>
          <a:ln w="20320">
            <a:solidFill>
              <a:srgbClr val="B338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48175" y="3257550"/>
            <a:ext cx="0" cy="152400"/>
          </a:xfrm>
          <a:prstGeom prst="line">
            <a:avLst/>
          </a:prstGeom>
          <a:ln w="20320">
            <a:solidFill>
              <a:srgbClr val="B338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57650" y="3486150"/>
            <a:ext cx="3048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7" b="0" i="1">
                <a:solidFill>
                  <a:srgbClr val="B3382C"/>
                </a:solidFill>
                <a:latin typeface="Noto Serif"/>
              </a:rPr>
              <a:t>scam wallet — burst, then silence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05765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862" b="1" i="0">
                <a:solidFill>
                  <a:srgbClr val="1B1B18"/>
                </a:solidFill>
                <a:latin typeface="IBM Plex Mono"/>
              </a:rPr>
              <a:t>Fig. 2</a:t>
            </a:r>
            <a:r>
              <a:rPr sz="862" b="0" i="0">
                <a:solidFill>
                  <a:srgbClr val="6B6A62"/>
                </a:solidFill>
                <a:latin typeface="IBM Plex Mono"/>
              </a:rPr>
              <a:t> — two features that encode a fraud pattern. Graph features: degree, in/out degree, PageRank, clustering, community size, neighbour risk.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19900" y="2305050"/>
            <a:ext cx="4457700" cy="0"/>
          </a:xfrm>
          <a:prstGeom prst="line">
            <a:avLst/>
          </a:prstGeom>
          <a:ln w="1270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19900" y="24574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1B1B18"/>
                </a:solidFill>
                <a:latin typeface="IBM Plex Mono"/>
              </a:rPr>
              <a:t>715 → 652 labels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438400"/>
            <a:ext cx="25908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75" b="0" i="1">
                <a:solidFill>
                  <a:srgbClr val="6B6A62"/>
                </a:solidFill>
                <a:latin typeface="Noto Serif"/>
              </a:rPr>
              <a:t>one wallet, several campaigns — duplicates would span the split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19900" y="3028950"/>
            <a:ext cx="44577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19900" y="31813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1B1B18"/>
                </a:solidFill>
                <a:latin typeface="IBM Plex Mono"/>
              </a:rPr>
              <a:t>empty addresses kept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162300"/>
            <a:ext cx="25908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75" b="0" i="1">
                <a:solidFill>
                  <a:srgbClr val="6B6A62"/>
                </a:solidFill>
                <a:latin typeface="Noto Serif"/>
              </a:rPr>
              <a:t>deleting them shifts class balance and hides a real case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19900" y="3752850"/>
            <a:ext cx="44577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19900" y="39052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1B1B18"/>
                </a:solidFill>
                <a:latin typeface="IBM Plex Mono"/>
              </a:rPr>
              <a:t>gasUsed dropped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86200"/>
            <a:ext cx="25908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75" b="0" i="1">
                <a:solidFill>
                  <a:srgbClr val="6B6A62"/>
                </a:solidFill>
                <a:latin typeface="Noto Serif"/>
              </a:rPr>
              <a:t>the API returns 0 on many real transfers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19900" y="4476750"/>
            <a:ext cx="44577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19900" y="46291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1B1B18"/>
                </a:solidFill>
                <a:latin typeface="IBM Plex Mono"/>
              </a:rPr>
              <a:t>scaler in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4610100"/>
            <a:ext cx="25908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75" b="0" i="1">
                <a:solidFill>
                  <a:srgbClr val="6B6A62"/>
                </a:solidFill>
                <a:latin typeface="Noto Serif"/>
              </a:rPr>
              <a:t>the app cannot preprocess differently than training did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19900" y="5200650"/>
            <a:ext cx="44577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§4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The split is temporal, not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19250"/>
            <a:ext cx="800100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Scam operations run clusters of sibling wallets. A random split puts siblings on both sides, and the model recognises the cluster instead of generalising.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05100"/>
            <a:ext cx="7254239" cy="514350"/>
          </a:xfrm>
          <a:prstGeom prst="rect">
            <a:avLst/>
          </a:prstGeom>
          <a:solidFill>
            <a:srgbClr val="C6D1E9"/>
          </a:solidFill>
          <a:ln w="15240">
            <a:solidFill>
              <a:srgbClr val="2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168639" y="2705100"/>
            <a:ext cx="3108960" cy="514350"/>
          </a:xfrm>
          <a:prstGeom prst="rect">
            <a:avLst/>
          </a:prstGeom>
          <a:solidFill>
            <a:srgbClr val="F0DFDA"/>
          </a:solidFill>
          <a:ln w="15240">
            <a:solidFill>
              <a:srgbClr val="B3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876550"/>
            <a:ext cx="7254239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TRAIN · earliest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639" y="2876550"/>
            <a:ext cx="310896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B3382C"/>
                </a:solidFill>
                <a:latin typeface="IBM Plex Mono"/>
              </a:rPr>
              <a:t>TEST · latest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09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7" b="0" i="0">
                <a:solidFill>
                  <a:srgbClr val="6B6A62"/>
                </a:solidFill>
                <a:latin typeface="IBM Plex Mono"/>
              </a:rPr>
              <a:t>5-fold CV &amp; tuning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600" y="33909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787" b="0" i="0">
                <a:solidFill>
                  <a:srgbClr val="B3382C"/>
                </a:solidFill>
                <a:latin typeface="IBM Plex Mono"/>
              </a:rPr>
              <a:t>touched once, at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810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75000"/>
              </a:lnSpc>
            </a:pPr>
            <a:r>
              <a:rPr sz="862" b="1" i="0">
                <a:solidFill>
                  <a:srgbClr val="1B1B18"/>
                </a:solidFill>
                <a:latin typeface="IBM Plex Mono"/>
              </a:rPr>
              <a:t>Fig. 3</a:t>
            </a:r>
            <a:r>
              <a:rPr sz="862" b="0" i="0">
                <a:solidFill>
                  <a:srgbClr val="6B6A62"/>
                </a:solidFill>
                <a:latin typeface="IBM Plex Mono"/>
              </a:rPr>
              <a:t> — addresses ordered by first on-chain appearance. Learn from what is known; score what came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§4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The feature that could have leaked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66900"/>
            <a:ext cx="19050" cy="1066800"/>
          </a:xfrm>
          <a:prstGeom prst="rect">
            <a:avLst/>
          </a:prstGeom>
          <a:solidFill>
            <a:srgbClr val="B3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1100" y="1866900"/>
            <a:ext cx="59055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75" b="0" i="0">
                <a:solidFill>
                  <a:srgbClr val="1B1B18"/>
                </a:solidFill>
                <a:latin typeface="IBM Plex Mono"/>
              </a:rPr>
              <a:t>neighbour_risk_ratio</a:t>
            </a:r>
            <a:r>
              <a:rPr sz="1575" b="0" i="0">
                <a:solidFill>
                  <a:srgbClr val="1B1B18"/>
                </a:solidFill>
                <a:latin typeface="Noto Serif"/>
              </a:rPr>
              <a:t> asks “what fraction of my labelled neighbours are illicit?” Computed over </a:t>
            </a:r>
            <a:r>
              <a:rPr sz="1575" b="0" i="1">
                <a:solidFill>
                  <a:srgbClr val="1B1B18"/>
                </a:solidFill>
                <a:latin typeface="Noto Serif"/>
              </a:rPr>
              <a:t>all</a:t>
            </a:r>
            <a:r>
              <a:rPr sz="1575" b="0" i="0">
                <a:solidFill>
                  <a:srgbClr val="1B1B18"/>
                </a:solidFill>
                <a:latin typeface="Noto Serif"/>
              </a:rPr>
              <a:t> labels, it leaks the answer outright.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24200"/>
            <a:ext cx="19050" cy="628650"/>
          </a:xfrm>
          <a:prstGeom prst="rect">
            <a:avLst/>
          </a:prstGeom>
          <a:solidFill>
            <a:srgbClr val="2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1100" y="3143250"/>
            <a:ext cx="5905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75" b="0" i="0">
                <a:solidFill>
                  <a:srgbClr val="1B1B18"/>
                </a:solidFill>
                <a:latin typeface="Noto Serif"/>
              </a:rPr>
              <a:t>So </a:t>
            </a:r>
            <a:r>
              <a:rPr sz="1275" b="0" i="0">
                <a:solidFill>
                  <a:srgbClr val="1B1B18"/>
                </a:solidFill>
                <a:latin typeface="IBM Plex Mono"/>
              </a:rPr>
              <a:t>graph.py</a:t>
            </a:r>
            <a:r>
              <a:rPr sz="1575" b="0" i="0">
                <a:solidFill>
                  <a:srgbClr val="1B1B18"/>
                </a:solidFill>
                <a:latin typeface="Noto Serif"/>
              </a:rPr>
              <a:t> takes visible labels as an argument, and training passes </a:t>
            </a:r>
            <a:r>
              <a:rPr sz="1575" b="1" i="0">
                <a:solidFill>
                  <a:srgbClr val="1B1B18"/>
                </a:solidFill>
                <a:latin typeface="Noto Serif"/>
              </a:rPr>
              <a:t>the training split’s labels only</a:t>
            </a:r>
            <a:r>
              <a:rPr sz="1575" b="0" i="0">
                <a:solidFill>
                  <a:srgbClr val="1B1B18"/>
                </a:solidFill>
                <a:latin typeface="Noto Serif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900" b="0" i="0" spc="50">
                <a:solidFill>
                  <a:srgbClr val="6B6A62"/>
                </a:solidFill>
                <a:latin typeface="IBM Plex Mono"/>
              </a:rPr>
              <a:t>PINNED BY UNIT TESTS — </a:t>
            </a:r>
            <a:r>
              <a:rPr sz="900" b="0" i="0" spc="50">
                <a:solidFill>
                  <a:srgbClr val="1B1B18"/>
                </a:solidFill>
                <a:latin typeface="IBM Plex Mono"/>
              </a:rPr>
              <a:t>INCLUDING THAT AN ADDRESS CAN NEVER READ ITS OWN LABEL BACK THROUGH A SELF-LOOP.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§4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Four tiers, one experiment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809750"/>
            <a:ext cx="103632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20193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B3382C"/>
                </a:solidFill>
                <a:latin typeface="IBM Plex Mono"/>
              </a:rP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2150" y="1981200"/>
            <a:ext cx="9220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Majority class. </a:t>
            </a:r>
            <a:r>
              <a:rPr sz="1387" b="0" i="1">
                <a:solidFill>
                  <a:srgbClr val="6B6A62"/>
                </a:solidFill>
                <a:latin typeface="Noto Serif"/>
              </a:rPr>
              <a:t>always “licit” — the baseline to beat and report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400300"/>
            <a:ext cx="103632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60985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B3382C"/>
                </a:solidFill>
                <a:latin typeface="IBM Plex Mono"/>
              </a:rPr>
              <a:t>TIER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2150" y="2571750"/>
            <a:ext cx="9220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Behaviour only. </a:t>
            </a:r>
            <a:r>
              <a:rPr sz="1387" b="0" i="1">
                <a:solidFill>
                  <a:srgbClr val="6B6A62"/>
                </a:solidFill>
                <a:latin typeface="Noto Serif"/>
              </a:rPr>
              <a:t>logistic regression &amp; random forest, 29 features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990850"/>
            <a:ext cx="103632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2004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B3382C"/>
                </a:solidFill>
                <a:latin typeface="IBM Plex Mono"/>
              </a:rPr>
              <a:t>TIER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2150" y="3162300"/>
            <a:ext cx="9220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Behaviour + graph. </a:t>
            </a:r>
            <a:r>
              <a:rPr sz="1387" b="0" i="1">
                <a:solidFill>
                  <a:srgbClr val="6B6A62"/>
                </a:solidFill>
                <a:latin typeface="Noto Serif"/>
              </a:rPr>
              <a:t>the same two models; only the feature set changes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581400"/>
            <a:ext cx="103632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79095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B3382C"/>
                </a:solidFill>
                <a:latin typeface="IBM Plex Mono"/>
              </a:rPr>
              <a:t>TIER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2150" y="3752850"/>
            <a:ext cx="9220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Graph neural network. </a:t>
            </a:r>
            <a:r>
              <a:rPr sz="1387" b="0" i="1">
                <a:solidFill>
                  <a:srgbClr val="6B6A62"/>
                </a:solidFill>
                <a:latin typeface="Noto Serif"/>
              </a:rPr>
              <a:t>GraphSAGE on the raw address graph — no hand-made 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171950"/>
            <a:ext cx="103632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457700"/>
            <a:ext cx="1036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50">
                <a:solidFill>
                  <a:srgbClr val="6B6A62"/>
                </a:solidFill>
                <a:latin typeface="IBM Plex Mono"/>
              </a:rPr>
              <a:t>CLASS-WEIGHTED · 5-FOLD CV ON THE TRAINING SPLIT ONLY · ONE TEMPORAL SPLIT THROUGHOUT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§5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Nothing changes but the feature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47850"/>
            <a:ext cx="114300" cy="114300"/>
          </a:xfrm>
          <a:prstGeom prst="rect">
            <a:avLst/>
          </a:prstGeom>
          <a:solidFill>
            <a:srgbClr val="93A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4900" y="18097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 spc="50">
                <a:solidFill>
                  <a:srgbClr val="6B6A62"/>
                </a:solidFill>
                <a:latin typeface="IBM Plex Mono"/>
              </a:rPr>
              <a:t>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1847850"/>
            <a:ext cx="114300" cy="114300"/>
          </a:xfrm>
          <a:prstGeom prst="rect">
            <a:avLst/>
          </a:prstGeom>
          <a:solidFill>
            <a:srgbClr val="2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009900" y="18097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 spc="50">
                <a:solidFill>
                  <a:srgbClr val="6B6A62"/>
                </a:solidFill>
                <a:latin typeface="IBM Plex Mono"/>
              </a:rPr>
              <a:t>+ graph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847850"/>
            <a:ext cx="114300" cy="114300"/>
          </a:xfrm>
          <a:prstGeom prst="rect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14900" y="18097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 spc="50">
                <a:solidFill>
                  <a:srgbClr val="6B6A62"/>
                </a:solidFill>
                <a:latin typeface="IBM Plex Mono"/>
              </a:rPr>
              <a:t>raw graph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3650" y="2076450"/>
            <a:ext cx="0" cy="24003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7900" y="45339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95712" y="2076450"/>
            <a:ext cx="0" cy="24003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9962" y="45339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57775" y="2076450"/>
            <a:ext cx="0" cy="24003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72025" y="45339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19837" y="2076450"/>
            <a:ext cx="0" cy="24003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4087" y="45339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0.75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1900" y="2076450"/>
            <a:ext cx="0" cy="24003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96150" y="45339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400300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logistic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3650" y="2190750"/>
            <a:ext cx="3720560" cy="266700"/>
          </a:xfrm>
          <a:prstGeom prst="rect">
            <a:avLst/>
          </a:prstGeom>
          <a:solidFill>
            <a:srgbClr val="93A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9460" y="22383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0.737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33650" y="2514600"/>
            <a:ext cx="4099179" cy="266700"/>
          </a:xfrm>
          <a:prstGeom prst="rect">
            <a:avLst/>
          </a:prstGeom>
          <a:solidFill>
            <a:srgbClr val="2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28079" y="256222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71850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33650" y="3162300"/>
            <a:ext cx="4447508" cy="266700"/>
          </a:xfrm>
          <a:prstGeom prst="rect">
            <a:avLst/>
          </a:prstGeom>
          <a:solidFill>
            <a:srgbClr val="93A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76408" y="320992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0.881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33650" y="3486150"/>
            <a:ext cx="4492942" cy="266700"/>
          </a:xfrm>
          <a:prstGeom prst="rect">
            <a:avLst/>
          </a:prstGeom>
          <a:solidFill>
            <a:srgbClr val="2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21842" y="35337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81475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GraphSAGE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33650" y="4133850"/>
            <a:ext cx="4195095" cy="266700"/>
          </a:xfrm>
          <a:prstGeom prst="rect">
            <a:avLst/>
          </a:prstGeom>
          <a:solidFill>
            <a:srgbClr val="2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23995" y="41814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0.831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33650" y="2076450"/>
            <a:ext cx="0" cy="240030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4819650"/>
            <a:ext cx="3429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>
                <a:solidFill>
                  <a:srgbClr val="B3382C"/>
                </a:solidFill>
                <a:latin typeface="IBM Plex Mono"/>
              </a:rPr>
              <a:t>▲ tier 1 baseline · F₁ = 0.000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53400" y="2190750"/>
            <a:ext cx="31242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53400" y="2343150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2E4FA8"/>
                </a:solidFill>
                <a:latin typeface="Noto Serif"/>
              </a:rPr>
              <a:t>F₁ = 0.890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3400" y="2876550"/>
            <a:ext cx="3124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20">
                <a:solidFill>
                  <a:srgbClr val="6B6A62"/>
                </a:solidFill>
                <a:latin typeface="IBM Plex Mono"/>
              </a:rPr>
              <a:t>SHIPPED · RF + GRAPH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53400" y="3181350"/>
            <a:ext cx="31242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53400" y="3333750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B1B18"/>
                </a:solidFill>
                <a:latin typeface="Noto Serif"/>
              </a:rPr>
              <a:t>129 of 133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3400" y="3867150"/>
            <a:ext cx="3124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20">
                <a:solidFill>
                  <a:srgbClr val="6B6A62"/>
                </a:solidFill>
                <a:latin typeface="IBM Plex Mono"/>
              </a:rPr>
              <a:t>SCAMS CAUGHT ON TEST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53400" y="4171950"/>
            <a:ext cx="31242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153400" y="4324350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B3382C"/>
                </a:solidFill>
                <a:latin typeface="Noto Serif"/>
              </a:rPr>
              <a:t>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3400" y="4857750"/>
            <a:ext cx="31242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20">
                <a:solidFill>
                  <a:srgbClr val="6B6A62"/>
                </a:solidFill>
                <a:latin typeface="IBM Plex Mono"/>
              </a:rPr>
              <a:t>FALSE ALARMS · THE REVIEW QUEUE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153400" y="5162550"/>
            <a:ext cx="31242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4400" y="5143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862" b="1" i="0">
                <a:solidFill>
                  <a:srgbClr val="1B1B18"/>
                </a:solidFill>
                <a:latin typeface="IBM Plex Mono"/>
              </a:rPr>
              <a:t>Fig. 4</a:t>
            </a:r>
            <a:r>
              <a:rPr sz="862" b="0" i="0">
                <a:solidFill>
                  <a:srgbClr val="6B6A62"/>
                </a:solidFill>
                <a:latin typeface="IBM Plex Mono"/>
              </a:rPr>
              <a:t> — F₁ on the illicit class, held-out temporal test split (856 addresses, 133 illicit).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§5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Does the graph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19250"/>
            <a:ext cx="6667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Yes — but modestly, and it depends on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19350"/>
            <a:ext cx="30734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4650" b="1" i="0">
                <a:solidFill>
                  <a:srgbClr val="2E4FA8"/>
                </a:solidFill>
                <a:latin typeface="Noto Serif"/>
              </a:rPr>
              <a:t>+0.075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7185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825" b="0" i="0" spc="120">
                <a:solidFill>
                  <a:srgbClr val="6B6A62"/>
                </a:solidFill>
                <a:latin typeface="IBM Plex Mono"/>
              </a:rPr>
              <a:t>F₁ · LOGISTIC REGRESSION
A LINEAR MODEL CANNOT BUILD THIS ITSELF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16400" y="2324100"/>
            <a:ext cx="0" cy="15049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68800" y="2419350"/>
            <a:ext cx="30734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4650" b="1" i="0">
                <a:solidFill>
                  <a:srgbClr val="1B1B18"/>
                </a:solidFill>
                <a:latin typeface="Noto Serif"/>
              </a:rPr>
              <a:t>+0.009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800" y="337185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825" b="0" i="0" spc="120">
                <a:solidFill>
                  <a:srgbClr val="6B6A62"/>
                </a:solidFill>
                <a:latin typeface="IBM Plex Mono"/>
              </a:rPr>
              <a:t>F₁ · RANDOM FOREST
+0.017 PR-AUC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70800" y="2324100"/>
            <a:ext cx="0" cy="150495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23200" y="2419350"/>
            <a:ext cx="30734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4650" b="1" i="0">
                <a:solidFill>
                  <a:srgbClr val="1B1B18"/>
                </a:solidFill>
                <a:latin typeface="Noto Serif"/>
              </a:rPr>
              <a:t>≈9%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3200" y="337185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825" b="0" i="0" spc="120">
                <a:solidFill>
                  <a:srgbClr val="6B6A62"/>
                </a:solidFill>
                <a:latin typeface="IBM Plex Mono"/>
              </a:rPr>
              <a:t>OF FOREST IMPORTANCE
OUT_DEGREE, COMMUNITY_SIZE, PAGERANK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48150"/>
            <a:ext cx="8382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We would rather report +0.009 accurately than round it into a story. Our graph is one hop deep — this is a floor, not a ceiling.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§5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GRAPH NEURAL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6096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What if the model reads
the graph itself?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05050"/>
            <a:ext cx="5334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A two-layer </a:t>
            </a:r>
            <a:r>
              <a:rPr sz="1500" b="1" i="0">
                <a:solidFill>
                  <a:srgbClr val="1B1B18"/>
                </a:solidFill>
                <a:latin typeface="Noto Serif"/>
              </a:rPr>
              <a:t>GraphSAGE</a:t>
            </a:r>
            <a:r>
              <a:rPr sz="1500" b="0" i="1">
                <a:solidFill>
                  <a:srgbClr val="6B6A62"/>
                </a:solidFill>
                <a:latin typeface="Noto Serif"/>
              </a:rPr>
              <a:t> over all 44,432 nodes — including unlabelled neighbours — given </a:t>
            </a:r>
            <a:r>
              <a:rPr sz="1500" b="0" i="1">
                <a:solidFill>
                  <a:srgbClr val="6B6A62"/>
                </a:solidFill>
                <a:latin typeface="Noto Serif"/>
              </a:rPr>
              <a:t>no</a:t>
            </a:r>
            <a:r>
              <a:rPr sz="1500" b="0" i="1">
                <a:solidFill>
                  <a:srgbClr val="6B6A62"/>
                </a:solidFill>
                <a:latin typeface="Noto Serif"/>
              </a:rPr>
              <a:t> graph features at all. It has to rediscover what network context means by passing messages along the edges.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43350"/>
            <a:ext cx="5334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900" b="0" i="0" spc="50">
                <a:solidFill>
                  <a:srgbClr val="6B6A62"/>
                </a:solidFill>
                <a:latin typeface="IBM Plex Mono"/>
              </a:rPr>
              <a:t>SAME TEMPORAL SPLIT · SCALER ON TRAINING ROWS ONLY
</a:t>
            </a:r>
            <a:r>
              <a:rPr sz="900" b="0" i="0" spc="50">
                <a:solidFill>
                  <a:srgbClr val="1B1B18"/>
                </a:solidFill>
                <a:latin typeface="IBM Plex Mono"/>
              </a:rPr>
              <a:t>neighbour_risk_ratio WITHHELD — FEEDING IT OUR ANSWER WOULD MAKE THE COMPARISON CIRCULAR.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1900" y="2209800"/>
            <a:ext cx="36957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81900" y="2362200"/>
            <a:ext cx="36957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2F6F62"/>
                </a:solidFill>
                <a:latin typeface="Noto Serif"/>
              </a:rPr>
              <a:t>F₁ = 0.831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1900" y="2895600"/>
            <a:ext cx="3695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20">
                <a:solidFill>
                  <a:srgbClr val="6B6A62"/>
                </a:solidFill>
                <a:latin typeface="IBM Plex Mono"/>
              </a:rPr>
              <a:t>TIER 4 · GRAPHSAGE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1900" y="3200400"/>
            <a:ext cx="36957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81900" y="3352800"/>
            <a:ext cx="36957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B1B18"/>
                </a:solidFill>
                <a:latin typeface="Noto Serif"/>
              </a:rPr>
              <a:t>0.884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3886200"/>
            <a:ext cx="3695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20">
                <a:solidFill>
                  <a:srgbClr val="6B6A62"/>
                </a:solidFill>
                <a:latin typeface="IBM Plex Mono"/>
              </a:rPr>
              <a:t>PR-AUC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1900" y="4191000"/>
            <a:ext cx="36957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1900" y="4343400"/>
            <a:ext cx="36957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B1B18"/>
                </a:solidFill>
                <a:latin typeface="Noto Serif"/>
              </a:rPr>
              <a:t>128 of 133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1900" y="4876800"/>
            <a:ext cx="3695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787" b="0" i="0" spc="120">
                <a:solidFill>
                  <a:srgbClr val="6B6A62"/>
                </a:solidFill>
                <a:latin typeface="IBM Plex Mono"/>
              </a:rPr>
              <a:t>SCAMS CAUGHT · 96% RECALL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1900" y="5181600"/>
            <a:ext cx="3695700" cy="0"/>
          </a:xfrm>
          <a:prstGeom prst="line">
            <a:avLst/>
          </a:prstGeom>
          <a:ln w="12700">
            <a:solidFill>
              <a:srgbClr val="DC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029200"/>
            <a:ext cx="6286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It loses to the forest on precision — 1,996 labelled training nodes is a small corpus for learned features. </a:t>
            </a:r>
            <a:r>
              <a:rPr sz="1500" b="1" i="0">
                <a:solidFill>
                  <a:srgbClr val="1B1B18"/>
                </a:solidFill>
                <a:latin typeface="Noto Serif"/>
              </a:rPr>
              <a:t>That the forest still wins is evidence our feature engineering wasn’t leaving much behind.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§6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Is the signal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19250"/>
            <a:ext cx="800100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6B6A62"/>
                </a:solidFill>
                <a:latin typeface="Noto Serif"/>
              </a:rPr>
              <a:t>Licit addresses were sampled from random blocks, so busy addresses are over-picked: 61% hit the 100-transaction cap, against 8% of illicit ones.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86150" y="2838450"/>
            <a:ext cx="0" cy="17526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0" y="46482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29212" y="2838450"/>
            <a:ext cx="0" cy="17526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3462" y="46482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72275" y="2838450"/>
            <a:ext cx="0" cy="17526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86525" y="46482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5337" y="2838450"/>
            <a:ext cx="0" cy="17526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9587" y="46482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0" y="2838450"/>
            <a:ext cx="0" cy="175260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72650" y="4648200"/>
            <a:ext cx="571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i="0">
                <a:solidFill>
                  <a:srgbClr val="6B6A62"/>
                </a:solidFill>
                <a:latin typeface="IBM Plex Mono"/>
              </a:rPr>
              <a:t>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3000375"/>
            <a:ext cx="1847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n_tx alone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6150" y="2952750"/>
            <a:ext cx="5494401" cy="266700"/>
          </a:xfrm>
          <a:prstGeom prst="rect">
            <a:avLst/>
          </a:prstGeom>
          <a:solidFill>
            <a:srgbClr val="93A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5801" y="30003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3648075"/>
            <a:ext cx="1847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activity features removed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6150" y="3600450"/>
            <a:ext cx="5829585" cy="266700"/>
          </a:xfrm>
          <a:prstGeom prst="rect">
            <a:avLst/>
          </a:prstGeom>
          <a:solidFill>
            <a:srgbClr val="93A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0985" y="36480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4295775"/>
            <a:ext cx="1847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1B1B18"/>
                </a:solidFill>
                <a:latin typeface="IBM Plex Mono"/>
              </a:rPr>
              <a:t>activity-matched pairs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6150" y="4248150"/>
            <a:ext cx="5862447" cy="266700"/>
          </a:xfrm>
          <a:prstGeom prst="rect">
            <a:avLst/>
          </a:prstGeom>
          <a:solidFill>
            <a:srgbClr val="2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43847" y="4295775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0.892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86150" y="2838450"/>
            <a:ext cx="0" cy="175260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35452" y="2781300"/>
            <a:ext cx="0" cy="1809750"/>
          </a:xfrm>
          <a:prstGeom prst="line">
            <a:avLst/>
          </a:prstGeom>
          <a:ln w="17780">
            <a:solidFill>
              <a:srgbClr val="B3382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1452" y="2590800"/>
            <a:ext cx="147637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787" b="0" i="0">
                <a:solidFill>
                  <a:srgbClr val="B3382C"/>
                </a:solidFill>
                <a:latin typeface="IBM Plex Mono"/>
              </a:rPr>
              <a:t>headline 0.890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86350"/>
            <a:ext cx="10363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75000"/>
              </a:lnSpc>
            </a:pPr>
            <a:r>
              <a:rPr sz="862" b="1" i="0">
                <a:solidFill>
                  <a:srgbClr val="1B1B18"/>
                </a:solidFill>
                <a:latin typeface="IBM Plex Mono"/>
              </a:rPr>
              <a:t>Fig. 5</a:t>
            </a:r>
            <a:r>
              <a:rPr sz="862" b="0" i="0">
                <a:solidFill>
                  <a:srgbClr val="6B6A62"/>
                </a:solidFill>
                <a:latin typeface="IBM Plex Mono"/>
              </a:rPr>
              <a:t> — within activity-matched pairs, activity carries no information by construction — and F₁ does not drop. </a:t>
            </a:r>
            <a:r>
              <a:rPr sz="862" b="1" i="0">
                <a:solidFill>
                  <a:srgbClr val="1B1B18"/>
                </a:solidFill>
                <a:latin typeface="IBM Plex Mono"/>
              </a:rPr>
              <a:t>The confound is genuine but not load-bearing.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§7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6096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One path from raw
chain to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05050"/>
            <a:ext cx="1295400" cy="952500"/>
          </a:xfrm>
          <a:prstGeom prst="rect">
            <a:avLst/>
          </a:prstGeom>
          <a:solidFill>
            <a:srgbClr val="FAFAF7"/>
          </a:solidFill>
          <a:ln w="12700">
            <a:solidFill>
              <a:srgbClr val="1B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155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labels.py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DARKLIST + ERA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26860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75" b="0" i="0">
                <a:solidFill>
                  <a:srgbClr val="6B6A62"/>
                </a:solidFill>
                <a:latin typeface="IBM Plex Mono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9350" y="2305050"/>
            <a:ext cx="1295400" cy="952500"/>
          </a:xfrm>
          <a:prstGeom prst="rect">
            <a:avLst/>
          </a:prstGeom>
          <a:solidFill>
            <a:srgbClr val="FAFAF7"/>
          </a:solidFill>
          <a:ln w="12700">
            <a:solidFill>
              <a:srgbClr val="1B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7650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collect.py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50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RESUMABLE, RATE-LIMIT 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26860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75" b="0" i="0">
                <a:solidFill>
                  <a:srgbClr val="6B6A62"/>
                </a:solidFill>
                <a:latin typeface="IBM Plex Mono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4300" y="2305050"/>
            <a:ext cx="1295400" cy="952500"/>
          </a:xfrm>
          <a:prstGeom prst="rect">
            <a:avLst/>
          </a:prstGeom>
          <a:solidFill>
            <a:srgbClr val="FAFAF7"/>
          </a:solidFill>
          <a:ln w="12700">
            <a:solidFill>
              <a:srgbClr val="6B6A6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98145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transactions
.jsonl.gz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145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FROZEN — EVERY STAGE READS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9700" y="26860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75" b="0" i="0">
                <a:solidFill>
                  <a:srgbClr val="6B6A62"/>
                </a:solidFill>
                <a:latin typeface="IBM Plex Mono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29250" y="2305050"/>
            <a:ext cx="1295400" cy="952500"/>
          </a:xfrm>
          <a:prstGeom prst="rect">
            <a:avLst/>
          </a:prstGeom>
          <a:solidFill>
            <a:srgbClr val="FAFAF7"/>
          </a:solidFill>
          <a:ln w="12700">
            <a:solidFill>
              <a:srgbClr val="1B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features.py · graph.py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29 + 7 · LEAKAGE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26860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75" b="0" i="0">
                <a:solidFill>
                  <a:srgbClr val="6B6A62"/>
                </a:solidFill>
                <a:latin typeface="IBM Plex Mono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4200" y="2305050"/>
            <a:ext cx="1295400" cy="952500"/>
          </a:xfrm>
          <a:prstGeom prst="rect">
            <a:avLst/>
          </a:prstGeom>
          <a:solidFill>
            <a:srgbClr val="FAFAF7"/>
          </a:solidFill>
          <a:ln w="12700">
            <a:solidFill>
              <a:srgbClr val="1B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9135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train.py · gnn.py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35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4 TIERS, TEMPORAL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860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75" b="0" i="0">
                <a:solidFill>
                  <a:srgbClr val="6B6A62"/>
                </a:solidFill>
                <a:latin typeface="IBM Plex Mono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9150" y="2305050"/>
            <a:ext cx="1295400" cy="952500"/>
          </a:xfrm>
          <a:prstGeom prst="rect">
            <a:avLst/>
          </a:prstGeom>
          <a:solidFill>
            <a:srgbClr val="FAFAF7"/>
          </a:solidFill>
          <a:ln w="12700">
            <a:solidFill>
              <a:srgbClr val="6B6A6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9630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model.joblib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30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SCALER + CLASSIFIER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4550" y="2686050"/>
            <a:ext cx="2095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975" b="0" i="0">
                <a:solidFill>
                  <a:srgbClr val="6B6A62"/>
                </a:solidFill>
                <a:latin typeface="IBM Plex Mono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44100" y="2305050"/>
            <a:ext cx="1295400" cy="952500"/>
          </a:xfrm>
          <a:prstGeom prst="rect">
            <a:avLst/>
          </a:prstGeom>
          <a:solidFill>
            <a:srgbClr val="FAFAF7"/>
          </a:solidFill>
          <a:ln w="25400">
            <a:solidFill>
              <a:srgbClr val="2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01250" y="24193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975" b="1" i="0">
                <a:solidFill>
                  <a:srgbClr val="1B1B18"/>
                </a:solidFill>
                <a:latin typeface="IBM Plex Mono"/>
              </a:rPr>
              <a:t>app/app.py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0" y="2838450"/>
            <a:ext cx="1181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sz="712" b="0" i="0" spc="50">
                <a:solidFill>
                  <a:srgbClr val="6B6A62"/>
                </a:solidFill>
                <a:latin typeface="IBM Plex Mono"/>
              </a:rPr>
              <a:t>STREAMLIT +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638550"/>
            <a:ext cx="4800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140">
                <a:solidFill>
                  <a:srgbClr val="B3382C"/>
                </a:solidFill>
                <a:latin typeface="IBM Plex Mono"/>
              </a:rPr>
              <a:t>NO DUPLICATED PREPROCESSING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05250"/>
            <a:ext cx="48006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75" b="0" i="1">
                <a:solidFill>
                  <a:srgbClr val="6B6A62"/>
                </a:solidFill>
                <a:latin typeface="Noto Serif"/>
              </a:rPr>
              <a:t>The app imports src/features.py rather than reimplementing it — the classic way a deployed model silently diverges from the one that was evaluated.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2700" y="3638550"/>
            <a:ext cx="4800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140">
                <a:solidFill>
                  <a:srgbClr val="B3382C"/>
                </a:solidFill>
                <a:latin typeface="IBM Plex Mono"/>
              </a:rPr>
              <a:t>TESTS WHERE BUGS HIDE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700" y="3905250"/>
            <a:ext cx="480060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75" b="0" i="1">
                <a:solidFill>
                  <a:srgbClr val="6B6A62"/>
                </a:solidFill>
                <a:latin typeface="Noto Serif"/>
              </a:rPr>
              <a:t>Cursor construction, feature arithmetic on hand-built transactions, the leakage guard, the saved scaler.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§8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62865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A probability and a priority
— never a verdict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305050"/>
            <a:ext cx="5715000" cy="0"/>
          </a:xfrm>
          <a:prstGeom prst="line">
            <a:avLst/>
          </a:prstGeom>
          <a:ln w="1524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249555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2E4FA8"/>
                </a:solidFill>
                <a:latin typeface="IBM Plex Mono"/>
              </a:rPr>
              <a:t>TAB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2457450"/>
            <a:ext cx="49149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B1B18"/>
                </a:solidFill>
                <a:latin typeface="Noto Serif"/>
              </a:rPr>
              <a:t>Look up an address. </a:t>
            </a:r>
            <a:r>
              <a:rPr sz="1350" b="0" i="1">
                <a:solidFill>
                  <a:srgbClr val="6B6A62"/>
                </a:solidFill>
                <a:latin typeface="Noto Serif"/>
              </a:rPr>
              <a:t>fetched live, scored by the saved pipeline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124200"/>
            <a:ext cx="57150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31470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2E4FA8"/>
                </a:solidFill>
                <a:latin typeface="IBM Plex Mono"/>
              </a:rPr>
              <a:t>TAB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3276600"/>
            <a:ext cx="49149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B1B18"/>
                </a:solidFill>
                <a:latin typeface="Noto Serif"/>
              </a:rPr>
              <a:t>Explore features by hand. </a:t>
            </a:r>
            <a:r>
              <a:rPr sz="1350" b="0" i="1">
                <a:solidFill>
                  <a:srgbClr val="6B6A62"/>
                </a:solidFill>
                <a:latin typeface="Noto Serif"/>
              </a:rPr>
              <a:t>presets like “collect-and-sweep”, no network needed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943350"/>
            <a:ext cx="57150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13385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80">
                <a:solidFill>
                  <a:srgbClr val="2E4FA8"/>
                </a:solidFill>
                <a:latin typeface="IBM Plex Mono"/>
              </a:rPr>
              <a:t>TAB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4095750"/>
            <a:ext cx="49149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B1B18"/>
                </a:solidFill>
                <a:latin typeface="Noto Serif"/>
              </a:rPr>
              <a:t>Model performance. </a:t>
            </a:r>
            <a:r>
              <a:rPr sz="1350" b="0" i="1">
                <a:solidFill>
                  <a:srgbClr val="6B6A62"/>
                </a:solidFill>
                <a:latin typeface="Noto Serif"/>
              </a:rPr>
              <a:t>all four tiers, importances, graph statistics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4762500"/>
            <a:ext cx="5715000" cy="0"/>
          </a:xfrm>
          <a:prstGeom prst="line">
            <a:avLst/>
          </a:prstGeom>
          <a:ln w="12700">
            <a:solidFill>
              <a:srgbClr val="EAE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200900" y="2362200"/>
            <a:ext cx="4076700" cy="914400"/>
          </a:xfrm>
          <a:prstGeom prst="rect">
            <a:avLst/>
          </a:prstGeom>
          <a:solidFill>
            <a:srgbClr val="FAFAF7"/>
          </a:solidFill>
          <a:ln w="12700">
            <a:solidFill>
              <a:srgbClr val="1B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00900" y="2628900"/>
            <a:ext cx="40767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200" b="1" i="0">
                <a:solidFill>
                  <a:srgbClr val="1B1B18"/>
                </a:solidFill>
                <a:latin typeface="IBM Plex Mono"/>
              </a:rPr>
              <a:t>eth-illicit-detection.streamlit.app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900" y="2933700"/>
            <a:ext cx="40767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i="0" spc="140">
                <a:solidFill>
                  <a:srgbClr val="6B6A62"/>
                </a:solidFill>
                <a:latin typeface="IBM Plex Mono"/>
              </a:rPr>
              <a:t>LIVE NOW — SWITCHING TO THE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900" y="3562350"/>
            <a:ext cx="40767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12" b="0" i="1">
                <a:solidFill>
                  <a:srgbClr val="6B6A62"/>
                </a:solidFill>
                <a:latin typeface="Noto Serif"/>
              </a:rPr>
              <a:t>The footer states it plainly: a LICIT score means </a:t>
            </a:r>
            <a:r>
              <a:rPr sz="1312" b="0" i="1">
                <a:solidFill>
                  <a:srgbClr val="6B6A62"/>
                </a:solidFill>
                <a:latin typeface="Noto Serif"/>
              </a:rPr>
              <a:t>“not reported”</a:t>
            </a:r>
            <a:r>
              <a:rPr sz="1312" b="0" i="1">
                <a:solidFill>
                  <a:srgbClr val="6B6A62"/>
                </a:solidFill>
                <a:latin typeface="Noto Serif"/>
              </a:rPr>
              <a:t>, not “cleared”. A flag is a candidate for review, not a suspect.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2950"/>
            <a:ext cx="103632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25" b="0" i="0" spc="160">
                <a:solidFill>
                  <a:srgbClr val="B3382C"/>
                </a:solidFill>
                <a:latin typeface="IBM Plex Mono"/>
              </a:rPr>
              <a:t>§9</a:t>
            </a:r>
            <a:r>
              <a:rPr sz="825" b="0" i="0" spc="160">
                <a:solidFill>
                  <a:srgbClr val="6B6A62"/>
                </a:solidFill>
                <a:latin typeface="IBM Plex Mono"/>
              </a:rPr>
              <a:t>  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50" b="1" i="0">
                <a:solidFill>
                  <a:srgbClr val="1B1B18"/>
                </a:solidFill>
                <a:latin typeface="Noto Serif"/>
              </a:rPr>
              <a:t>Task division &amp; further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09750"/>
            <a:ext cx="32258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Sanskriti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190750"/>
            <a:ext cx="3225800" cy="0"/>
          </a:xfrm>
          <a:prstGeom prst="line">
            <a:avLst/>
          </a:prstGeom>
          <a:ln w="1270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36220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36220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Blockscout client &amp; 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4795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64795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labels &amp; era-matched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3370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93370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EDA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945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21945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Streamlit app &amp;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800" y="1809750"/>
            <a:ext cx="32258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Sweta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68800" y="2190750"/>
            <a:ext cx="3225800" cy="0"/>
          </a:xfrm>
          <a:prstGeom prst="line">
            <a:avLst/>
          </a:prstGeom>
          <a:ln w="1270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68800" y="236220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00" y="236220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behavioural &amp; graph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800" y="264795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200" y="264795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leakage guard, unit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800" y="293370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1200" y="293370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four-tier training &amp; the GNN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800" y="321945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200" y="321945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sensitivity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3200" y="1809750"/>
            <a:ext cx="32258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75" b="1" i="0">
                <a:solidFill>
                  <a:srgbClr val="1B1B18"/>
                </a:solidFill>
                <a:latin typeface="Noto Serif"/>
              </a:rPr>
              <a:t>Further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23200" y="2190750"/>
            <a:ext cx="3225800" cy="0"/>
          </a:xfrm>
          <a:prstGeom prst="line">
            <a:avLst/>
          </a:prstGeom>
          <a:ln w="12700">
            <a:solidFill>
              <a:srgbClr val="1B1B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23200" y="236220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5600" y="236220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crawl one hop deeper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3200" y="264795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5600" y="264795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more positives — add OFAC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3200" y="293370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5600" y="293370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recalibrate to the true base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3200" y="3219450"/>
            <a:ext cx="1143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12" b="0" i="0">
                <a:solidFill>
                  <a:srgbClr val="B3382C"/>
                </a:solidFill>
                <a:latin typeface="Noto Serif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600" y="3219450"/>
            <a:ext cx="30734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12" b="0" i="0">
                <a:solidFill>
                  <a:srgbClr val="6B6A62"/>
                </a:solidFill>
                <a:latin typeface="Noto Serif"/>
              </a:rPr>
              <a:t>measure rate limits before designing around them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2150"/>
            <a:ext cx="7239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62" b="0" i="0" spc="180">
                <a:solidFill>
                  <a:srgbClr val="6B6A62"/>
                </a:solidFill>
                <a:latin typeface="IBM Plex Mono"/>
              </a:rPr>
              <a:t>CAN AN ADDRESS’S NETWORK REVEAL FRAUD ITS OWN FEATURES CANNOT?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81250"/>
            <a:ext cx="8382000" cy="276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3150" b="1" i="1">
                <a:solidFill>
                  <a:srgbClr val="2E4FA8"/>
                </a:solidFill>
                <a:latin typeface="Noto Serif"/>
              </a:rPr>
              <a:t>Yes</a:t>
            </a:r>
            <a:r>
              <a:rPr sz="3150" b="1" i="0">
                <a:solidFill>
                  <a:srgbClr val="1B1B18"/>
                </a:solidFill>
                <a:latin typeface="Noto Serif"/>
              </a:rPr>
              <a:t> — decisive for a linear model, marginal for a forest, and confirmed by a network that reads the raw graph without beating the features we built by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102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 spc="50">
                <a:solidFill>
                  <a:srgbClr val="6B6A62"/>
                </a:solidFill>
                <a:latin typeface="IBM Plex Mono"/>
              </a:rPr>
              <a:t>Sanskriti Acharya &amp; Sweta Sharma · eth-illicit-detection.streamlit.app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